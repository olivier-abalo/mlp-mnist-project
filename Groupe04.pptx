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7201"/>
            <a:ext cx="99169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Projet 4 : Réseaux Feedforward (MLP)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96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282672"/>
            <a:ext cx="54744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 Reconnaissance de chiffres manuscrits 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771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952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Présenté par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ABALO KOMI OLIVIER NESTOR, AKOLLY SEVI MARCEL, AKOLLY ASSOU MARCELLIN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132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Filière-Niveau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IABD-B3 |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Introduction au Deep Learning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8313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Professeur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Dr AFENYIVEH Dzo M. Serge |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Université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COLLEGE DE PARIS SUPERIEUR LOME TOGO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4493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Année académique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2025-2026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14155"/>
            <a:ext cx="71495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Contexte et Problématique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0899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Contexte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671054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reconnaissance de chiffres manuscrits est un problème classique en IA, utilisé dans la lecture automatique des chèques bancaires, la numérisation de documents et les systèmes postaux.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0899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Problématique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671054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Comment reconnaître automatiquement les chiffres manuscrits 0-9 à partir d'une image ? Difficulté : écritures variables, images bruitées, chiffres similaires (3/5, 4/9).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51748"/>
            <a:ext cx="7507129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Objectifs et Lien avec le Cours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56642" y="1739503"/>
            <a:ext cx="6455569" cy="2085856"/>
          </a:xfrm>
          <a:prstGeom prst="roundRect">
            <a:avLst>
              <a:gd name="adj" fmla="val 1555"/>
            </a:avLst>
          </a:prstGeom>
          <a:solidFill>
            <a:srgbClr val="3E3E3E"/>
          </a:solidFill>
          <a:ln/>
        </p:spPr>
      </p:sp>
      <p:sp>
        <p:nvSpPr>
          <p:cNvPr id="4" name="Shape 2"/>
          <p:cNvSpPr/>
          <p:nvPr/>
        </p:nvSpPr>
        <p:spPr>
          <a:xfrm>
            <a:off x="972741" y="1955602"/>
            <a:ext cx="648533" cy="648533"/>
          </a:xfrm>
          <a:prstGeom prst="roundRect">
            <a:avLst>
              <a:gd name="adj" fmla="val 14098104"/>
            </a:avLst>
          </a:prstGeom>
          <a:solidFill>
            <a:srgbClr val="F5F5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1096" y="2133838"/>
            <a:ext cx="291822" cy="2918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2741" y="2810113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Construire un MLP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72741" y="3271480"/>
            <a:ext cx="602337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Modèle adapté à la classification multiclasse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18189" y="1739503"/>
            <a:ext cx="6455569" cy="2085856"/>
          </a:xfrm>
          <a:prstGeom prst="roundRect">
            <a:avLst>
              <a:gd name="adj" fmla="val 1555"/>
            </a:avLst>
          </a:prstGeom>
          <a:solidFill>
            <a:srgbClr val="3E3E3E"/>
          </a:solidFill>
          <a:ln/>
        </p:spPr>
      </p:sp>
      <p:sp>
        <p:nvSpPr>
          <p:cNvPr id="9" name="Shape 6"/>
          <p:cNvSpPr/>
          <p:nvPr/>
        </p:nvSpPr>
        <p:spPr>
          <a:xfrm>
            <a:off x="7634288" y="1955602"/>
            <a:ext cx="648533" cy="648533"/>
          </a:xfrm>
          <a:prstGeom prst="roundRect">
            <a:avLst>
              <a:gd name="adj" fmla="val 14098104"/>
            </a:avLst>
          </a:prstGeom>
          <a:solidFill>
            <a:srgbClr val="F5F54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2643" y="2133838"/>
            <a:ext cx="291822" cy="2918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4288" y="2810113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Entraîner sur MNIST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634288" y="3271480"/>
            <a:ext cx="602337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60 000 images d'entraînement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56642" y="4031337"/>
            <a:ext cx="6455569" cy="2085856"/>
          </a:xfrm>
          <a:prstGeom prst="roundRect">
            <a:avLst>
              <a:gd name="adj" fmla="val 1555"/>
            </a:avLst>
          </a:prstGeom>
          <a:solidFill>
            <a:srgbClr val="3E3E3E"/>
          </a:solidFill>
          <a:ln/>
        </p:spPr>
      </p:sp>
      <p:sp>
        <p:nvSpPr>
          <p:cNvPr id="14" name="Shape 10"/>
          <p:cNvSpPr/>
          <p:nvPr/>
        </p:nvSpPr>
        <p:spPr>
          <a:xfrm>
            <a:off x="972741" y="4247436"/>
            <a:ext cx="648533" cy="648533"/>
          </a:xfrm>
          <a:prstGeom prst="roundRect">
            <a:avLst>
              <a:gd name="adj" fmla="val 14098104"/>
            </a:avLst>
          </a:prstGeom>
          <a:solidFill>
            <a:srgbClr val="F5F54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1096" y="4425672"/>
            <a:ext cx="291822" cy="29182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72741" y="5101947"/>
            <a:ext cx="275558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Évaluer performances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972741" y="5563314"/>
            <a:ext cx="602337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Accuracy, F1-score, matrice de confusion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418189" y="4031337"/>
            <a:ext cx="6455569" cy="2085856"/>
          </a:xfrm>
          <a:prstGeom prst="roundRect">
            <a:avLst>
              <a:gd name="adj" fmla="val 1555"/>
            </a:avLst>
          </a:prstGeom>
          <a:solidFill>
            <a:srgbClr val="3E3E3E"/>
          </a:solidFill>
          <a:ln/>
        </p:spPr>
      </p:sp>
      <p:sp>
        <p:nvSpPr>
          <p:cNvPr id="19" name="Shape 14"/>
          <p:cNvSpPr/>
          <p:nvPr/>
        </p:nvSpPr>
        <p:spPr>
          <a:xfrm>
            <a:off x="7634288" y="4247436"/>
            <a:ext cx="648533" cy="648533"/>
          </a:xfrm>
          <a:prstGeom prst="roundRect">
            <a:avLst>
              <a:gd name="adj" fmla="val 14098104"/>
            </a:avLst>
          </a:prstGeom>
          <a:solidFill>
            <a:srgbClr val="F5F54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2643" y="4425672"/>
            <a:ext cx="291822" cy="29182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4288" y="510194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Analyser erreurs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7634288" y="5563314"/>
            <a:ext cx="602337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Comprendre limites et cas de confusion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756642" y="6349008"/>
            <a:ext cx="13117116" cy="1228844"/>
          </a:xfrm>
          <a:prstGeom prst="roundRect">
            <a:avLst>
              <a:gd name="adj" fmla="val 2639"/>
            </a:avLst>
          </a:prstGeom>
          <a:solidFill>
            <a:srgbClr val="022349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741" y="6681311"/>
            <a:ext cx="270153" cy="21609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58992" y="6608921"/>
            <a:ext cx="1219866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Lien avec le cours :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 projet s'inscrit dans la partie dédiée aux réseaux feedforward : perceptrons multicouches (MLP), propagation avant, couches denses, calcul des paramètres.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0548" y="455176"/>
            <a:ext cx="4075748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MNIST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70548" y="1221700"/>
            <a:ext cx="8002905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70000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553063" y="1928932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Images totales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0548" y="2253972"/>
            <a:ext cx="800290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60000 entraînement + 10000 test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0548" y="2793802"/>
            <a:ext cx="8002905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28×28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3553063" y="3501033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Taille images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0548" y="3826073"/>
            <a:ext cx="800290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Pixels en niveaux de gris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0548" y="4365903"/>
            <a:ext cx="8002905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3553063" y="5073134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0548" y="5398175"/>
            <a:ext cx="800290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Chiffres de 0 à 9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70548" y="5938004"/>
            <a:ext cx="8002905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784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3553063" y="6645235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0548" y="6970276"/>
            <a:ext cx="8002905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Vecteur après aplatissement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70548" y="7326154"/>
            <a:ext cx="8002905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dataset MNIST est une base de données standard en Deep Learning, largement utilisée comme point de référence pour les algorithmes de reconnaissance d'images.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53653"/>
            <a:ext cx="6685240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Prétraitement des Données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1758" y="1692593"/>
            <a:ext cx="418148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758" y="2025134"/>
            <a:ext cx="4260413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5" name="Text 3"/>
          <p:cNvSpPr/>
          <p:nvPr/>
        </p:nvSpPr>
        <p:spPr>
          <a:xfrm>
            <a:off x="731758" y="2175391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Normalisation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31758" y="2617589"/>
            <a:ext cx="426041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Conversion des pixels (0-255) vers (0-1) : </a:t>
            </a:r>
            <a:pPr algn="l" indent="0" marL="0">
              <a:lnSpc>
                <a:spcPts val="2500"/>
              </a:lnSpc>
              <a:buNone/>
            </a:pPr>
            <a:r>
              <a:rPr lang="en-US" sz="16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x_{\text{normalisé}} = \frac{x}{255}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84934" y="1692593"/>
            <a:ext cx="418148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84934" y="2025134"/>
            <a:ext cx="4260413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9" name="Text 7"/>
          <p:cNvSpPr/>
          <p:nvPr/>
        </p:nvSpPr>
        <p:spPr>
          <a:xfrm>
            <a:off x="5184934" y="2175391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Aplatissement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5184934" y="2617589"/>
            <a:ext cx="426041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Transformation 28×28 → vecteur 784 valeurs pour le MLP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38109" y="1692593"/>
            <a:ext cx="418148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38109" y="2025134"/>
            <a:ext cx="4260413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3" name="Text 11"/>
          <p:cNvSpPr/>
          <p:nvPr/>
        </p:nvSpPr>
        <p:spPr>
          <a:xfrm>
            <a:off x="9638109" y="2175391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DataLoaders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638109" y="2617589"/>
            <a:ext cx="426041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des batches (batch_size=64) pour accélérer l'entraînement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758" y="3826669"/>
            <a:ext cx="3025140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Transformations PyTorch</a:t>
            </a:r>
            <a:endParaRPr lang="en-US" sz="2050" dirty="0"/>
          </a:p>
        </p:txBody>
      </p:sp>
      <p:sp>
        <p:nvSpPr>
          <p:cNvPr id="16" name="Shape 14"/>
          <p:cNvSpPr/>
          <p:nvPr/>
        </p:nvSpPr>
        <p:spPr>
          <a:xfrm>
            <a:off x="731758" y="4370070"/>
            <a:ext cx="6328410" cy="2988945"/>
          </a:xfrm>
          <a:prstGeom prst="roundRect">
            <a:avLst>
              <a:gd name="adj" fmla="val 1049"/>
            </a:avLst>
          </a:prstGeom>
          <a:solidFill>
            <a:srgbClr val="2C2C2C"/>
          </a:solidFill>
          <a:ln/>
        </p:spPr>
      </p:sp>
      <p:sp>
        <p:nvSpPr>
          <p:cNvPr id="17" name="Shape 15"/>
          <p:cNvSpPr/>
          <p:nvPr/>
        </p:nvSpPr>
        <p:spPr>
          <a:xfrm>
            <a:off x="721400" y="4370070"/>
            <a:ext cx="6349127" cy="2988945"/>
          </a:xfrm>
          <a:prstGeom prst="roundRect">
            <a:avLst>
              <a:gd name="adj" fmla="val 1049"/>
            </a:avLst>
          </a:prstGeom>
          <a:solidFill>
            <a:srgbClr val="2C2C2C"/>
          </a:solidFill>
          <a:ln/>
        </p:spPr>
      </p:sp>
      <p:sp>
        <p:nvSpPr>
          <p:cNvPr id="18" name="Text 16"/>
          <p:cNvSpPr/>
          <p:nvPr/>
        </p:nvSpPr>
        <p:spPr>
          <a:xfrm>
            <a:off x="982742" y="4579144"/>
            <a:ext cx="5826443" cy="2570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79C0F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 = transforms.Compose([</a:t>
            </a:r>
            <a:endParaRPr lang="en-US" sz="16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79C0F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transforms.ToTensor()</a:t>
            </a:r>
            <a:endParaRPr lang="en-US" sz="16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79C0F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6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79C0F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train_loader = DataLoader(</a:t>
            </a:r>
            <a:endParaRPr lang="en-US" sz="16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79C0F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train_dataset, </a:t>
            </a:r>
            <a:endParaRPr lang="en-US" sz="16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79C0F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batch_size=64, </a:t>
            </a:r>
            <a:endParaRPr lang="en-US" sz="16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79C0F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shuffle=True</a:t>
            </a:r>
            <a:endParaRPr lang="en-US" sz="16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79C0F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77852" y="3826669"/>
            <a:ext cx="266711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Pourquoi normaliser ?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7577852" y="4346019"/>
            <a:ext cx="6328410" cy="109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Accélère l'apprentissage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Stabilise la descente de gradient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Améliore la convergence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123" y="440769"/>
            <a:ext cx="4651653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 des Modèles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935123" y="1195864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Modèle Baseline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935123" y="1546622"/>
            <a:ext cx="518981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 seule couche linéaire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35123" y="1877735"/>
            <a:ext cx="5189815" cy="1153716"/>
          </a:xfrm>
          <a:prstGeom prst="roundRect">
            <a:avLst>
              <a:gd name="adj" fmla="val 2028"/>
            </a:avLst>
          </a:prstGeom>
          <a:solidFill>
            <a:srgbClr val="2C2C2C"/>
          </a:solidFill>
          <a:ln/>
        </p:spPr>
      </p:sp>
      <p:sp>
        <p:nvSpPr>
          <p:cNvPr id="6" name="Shape 4"/>
          <p:cNvSpPr/>
          <p:nvPr/>
        </p:nvSpPr>
        <p:spPr>
          <a:xfrm>
            <a:off x="1927384" y="1877735"/>
            <a:ext cx="5205293" cy="1153716"/>
          </a:xfrm>
          <a:prstGeom prst="roundRect">
            <a:avLst>
              <a:gd name="adj" fmla="val 2028"/>
            </a:avLst>
          </a:prstGeom>
          <a:solidFill>
            <a:srgbClr val="2C2C2C"/>
          </a:solidFill>
          <a:ln/>
        </p:spPr>
      </p:sp>
      <p:sp>
        <p:nvSpPr>
          <p:cNvPr id="7" name="Text 5"/>
          <p:cNvSpPr/>
          <p:nvPr/>
        </p:nvSpPr>
        <p:spPr>
          <a:xfrm>
            <a:off x="2122289" y="2033588"/>
            <a:ext cx="4815483" cy="842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model_simple = nn.Sequential(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nn.Linear(784, 10)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7,850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12844" y="1195864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Modèle MLP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12844" y="1546622"/>
            <a:ext cx="518981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Trois couches avec ReLU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12844" y="1877735"/>
            <a:ext cx="5189815" cy="2627233"/>
          </a:xfrm>
          <a:prstGeom prst="roundRect">
            <a:avLst>
              <a:gd name="adj" fmla="val 890"/>
            </a:avLst>
          </a:prstGeom>
          <a:solidFill>
            <a:srgbClr val="2C2C2C"/>
          </a:solidFill>
          <a:ln/>
        </p:spPr>
      </p:sp>
      <p:sp>
        <p:nvSpPr>
          <p:cNvPr id="11" name="Shape 9"/>
          <p:cNvSpPr/>
          <p:nvPr/>
        </p:nvSpPr>
        <p:spPr>
          <a:xfrm>
            <a:off x="7505105" y="1877735"/>
            <a:ext cx="5205293" cy="2627233"/>
          </a:xfrm>
          <a:prstGeom prst="roundRect">
            <a:avLst>
              <a:gd name="adj" fmla="val 890"/>
            </a:avLst>
          </a:prstGeom>
          <a:solidFill>
            <a:srgbClr val="2C2C2C"/>
          </a:solidFill>
          <a:ln/>
        </p:spPr>
      </p:sp>
      <p:sp>
        <p:nvSpPr>
          <p:cNvPr id="12" name="Text 10"/>
          <p:cNvSpPr/>
          <p:nvPr/>
        </p:nvSpPr>
        <p:spPr>
          <a:xfrm>
            <a:off x="7700010" y="2033588"/>
            <a:ext cx="4815483" cy="231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MLP(nn.Module):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self.model = nn.Sequential(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nn.Linear(784, 128),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nn.ReLU(),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nn.Linear(128, 64),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nn.ReLU(),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nn.Linear(64, 10)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Params: 109,386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24745" y="5759768"/>
            <a:ext cx="1917978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3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100,480</a:t>
            </a:r>
            <a:endParaRPr lang="en-US" sz="30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243" y="4785122"/>
            <a:ext cx="2339102" cy="233910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709148" y="7270313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Couche 1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935123" y="7578209"/>
            <a:ext cx="349734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784×128 + 128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6032" y="5759768"/>
            <a:ext cx="1917978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3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8,256</a:t>
            </a:r>
            <a:endParaRPr lang="en-US" sz="30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530" y="4785122"/>
            <a:ext cx="2339102" cy="23391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340435" y="7270313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Couche 2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566410" y="7578209"/>
            <a:ext cx="349734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128×64 + 64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987320" y="5759768"/>
            <a:ext cx="1917978" cy="389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3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650</a:t>
            </a:r>
            <a:endParaRPr lang="en-US" sz="30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6817" y="4785122"/>
            <a:ext cx="2339102" cy="233910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971723" y="7270313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Couche 3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9197697" y="7578209"/>
            <a:ext cx="349734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64×10 + 10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471368"/>
            <a:ext cx="4796076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Entraînement du Modèle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291" y="1236464"/>
            <a:ext cx="3831193" cy="6662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4860" y="2025015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Fonction de perte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734860" y="2358628"/>
            <a:ext cx="3498056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nn.CrossEntropyLoss()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pour classification multiclasse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484" y="1236464"/>
            <a:ext cx="3831193" cy="6662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66053" y="2025015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Optimiseur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566053" y="2358628"/>
            <a:ext cx="3498056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torch.optim.Adam()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avec learning rate = 0.001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678" y="1236464"/>
            <a:ext cx="3831312" cy="6662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97246" y="2025015"/>
            <a:ext cx="2188488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Boucle d'entraînement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397246" y="2358628"/>
            <a:ext cx="3498175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époques, propagation avant, backward, mise à jour des poids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568291" y="3170873"/>
            <a:ext cx="2498646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Évolution de la Loss</a:t>
            </a:r>
            <a:endParaRPr lang="en-US" sz="1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291" y="3666649"/>
            <a:ext cx="5809417" cy="37228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68291" y="7527012"/>
            <a:ext cx="1149369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MLP converge plus rapidement avec une loss finale de 94.4012 vs 277.0054 pour le modèle simple.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85311"/>
            <a:ext cx="6450211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Évaluation des Performances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2786182" y="2669381"/>
            <a:ext cx="2353985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97%</a:t>
            </a:r>
            <a:endParaRPr lang="en-US" sz="3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935" y="1473279"/>
            <a:ext cx="2870716" cy="28707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67132" y="4553188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Accuracy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12351" y="4948952"/>
            <a:ext cx="6501884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9700/10000 images correctement classées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489877" y="2669381"/>
            <a:ext cx="2353985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0.97</a:t>
            </a:r>
            <a:endParaRPr lang="en-US" sz="3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630" y="1473279"/>
            <a:ext cx="2870716" cy="28707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70827" y="4553188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F1-score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7416046" y="4948952"/>
            <a:ext cx="6501884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Moyenne harmonique précision/recall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12351" y="5473303"/>
            <a:ext cx="2870716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Matrice de Confusion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712351" y="6074212"/>
            <a:ext cx="1320557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diagonale principale représente les bonnes prédictions. Les erreurs hors diagonale révèlent les confusions entre chiffres similaires.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12351" y="6537960"/>
            <a:ext cx="4294227" cy="1106329"/>
          </a:xfrm>
          <a:prstGeom prst="roundRect">
            <a:avLst>
              <a:gd name="adj" fmla="val 2595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26544" y="675215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 </a:t>
            </a:r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↔</a:t>
            </a:r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5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926544" y="7147917"/>
            <a:ext cx="386584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Formes similaires avec boucles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168027" y="6537960"/>
            <a:ext cx="4294227" cy="1106329"/>
          </a:xfrm>
          <a:prstGeom prst="roundRect">
            <a:avLst>
              <a:gd name="adj" fmla="val 2595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82220" y="675215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 </a:t>
            </a:r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↔</a:t>
            </a:r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9</a:t>
            </a:r>
            <a:endParaRPr lang="en-US" sz="1850" dirty="0"/>
          </a:p>
        </p:txBody>
      </p:sp>
      <p:sp>
        <p:nvSpPr>
          <p:cNvPr id="18" name="Text 14"/>
          <p:cNvSpPr/>
          <p:nvPr/>
        </p:nvSpPr>
        <p:spPr>
          <a:xfrm>
            <a:off x="5382220" y="7147917"/>
            <a:ext cx="386584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 triangulaire proche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9623703" y="6537960"/>
            <a:ext cx="4294227" cy="1106329"/>
          </a:xfrm>
          <a:prstGeom prst="roundRect">
            <a:avLst>
              <a:gd name="adj" fmla="val 2595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37896" y="675215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 </a:t>
            </a:r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↔</a:t>
            </a:r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1</a:t>
            </a:r>
            <a:endParaRPr lang="en-US" sz="1850" dirty="0"/>
          </a:p>
        </p:txBody>
      </p:sp>
      <p:sp>
        <p:nvSpPr>
          <p:cNvPr id="21" name="Text 17"/>
          <p:cNvSpPr/>
          <p:nvPr/>
        </p:nvSpPr>
        <p:spPr>
          <a:xfrm>
            <a:off x="9837896" y="7147917"/>
            <a:ext cx="386584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Écritures verticales ambiguës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558284"/>
            <a:ext cx="736818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Forces, Limites et Améliorations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611" y="16123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Forces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611" y="2158008"/>
            <a:ext cx="6378535" cy="1372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Modèle simple et rapide à entraîner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Bonne performance globale (&gt;97%)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Facile à implémenter et interpréter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Convergence rapide avec Adam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4611" y="370439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Limites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94611" y="4250055"/>
            <a:ext cx="6378535" cy="1372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 capture pas la structure spatiale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Perte d'information lors du flatten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Moins performant que les CNN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Sensible aux écritures ambiguës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1612344"/>
            <a:ext cx="330065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Améliorations Possibles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564874" y="2285107"/>
            <a:ext cx="99179" cy="99179"/>
          </a:xfrm>
          <a:prstGeom prst="roundRect">
            <a:avLst>
              <a:gd name="adj" fmla="val 460985"/>
            </a:avLst>
          </a:prstGeom>
          <a:solidFill>
            <a:srgbClr val="F5F547"/>
          </a:solidFill>
          <a:ln/>
        </p:spPr>
      </p:sp>
      <p:sp>
        <p:nvSpPr>
          <p:cNvPr id="9" name="Text 7"/>
          <p:cNvSpPr/>
          <p:nvPr/>
        </p:nvSpPr>
        <p:spPr>
          <a:xfrm>
            <a:off x="7837646" y="217967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Dropout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837646" y="2663428"/>
            <a:ext cx="6105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Désactivation aléatoire des neurones pour réduire l'overfitting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564874" y="3413820"/>
            <a:ext cx="99179" cy="99179"/>
          </a:xfrm>
          <a:prstGeom prst="roundRect">
            <a:avLst>
              <a:gd name="adj" fmla="val 460985"/>
            </a:avLst>
          </a:prstGeom>
          <a:solidFill>
            <a:srgbClr val="F5F547"/>
          </a:solidFill>
          <a:ln/>
        </p:spPr>
      </p:sp>
      <p:sp>
        <p:nvSpPr>
          <p:cNvPr id="12" name="Text 10"/>
          <p:cNvSpPr/>
          <p:nvPr/>
        </p:nvSpPr>
        <p:spPr>
          <a:xfrm>
            <a:off x="7837646" y="33083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CNN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837646" y="3792141"/>
            <a:ext cx="6105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Conservent la structure 2D, détectent motifs locaux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564874" y="4542532"/>
            <a:ext cx="99179" cy="99179"/>
          </a:xfrm>
          <a:prstGeom prst="roundRect">
            <a:avLst>
              <a:gd name="adj" fmla="val 460985"/>
            </a:avLst>
          </a:prstGeom>
          <a:solidFill>
            <a:srgbClr val="F5F547"/>
          </a:solidFill>
          <a:ln/>
        </p:spPr>
      </p:sp>
      <p:sp>
        <p:nvSpPr>
          <p:cNvPr id="15" name="Text 13"/>
          <p:cNvSpPr/>
          <p:nvPr/>
        </p:nvSpPr>
        <p:spPr>
          <a:xfrm>
            <a:off x="7837646" y="443710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Augmentation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837646" y="4920853"/>
            <a:ext cx="6105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Rotation, zoom, translation pour robustesse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64874" y="5671245"/>
            <a:ext cx="99179" cy="99179"/>
          </a:xfrm>
          <a:prstGeom prst="roundRect">
            <a:avLst>
              <a:gd name="adj" fmla="val 460985"/>
            </a:avLst>
          </a:prstGeom>
          <a:solidFill>
            <a:srgbClr val="F5F547"/>
          </a:solidFill>
          <a:ln/>
        </p:spPr>
      </p:sp>
      <p:sp>
        <p:nvSpPr>
          <p:cNvPr id="18" name="Text 16"/>
          <p:cNvSpPr/>
          <p:nvPr/>
        </p:nvSpPr>
        <p:spPr>
          <a:xfrm>
            <a:off x="7837646" y="556581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Hyperparamètres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837646" y="6049566"/>
            <a:ext cx="6105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Optimisation du learning rate, batch size, époques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564874" y="6799957"/>
            <a:ext cx="99179" cy="99179"/>
          </a:xfrm>
          <a:prstGeom prst="roundRect">
            <a:avLst>
              <a:gd name="adj" fmla="val 460985"/>
            </a:avLst>
          </a:prstGeom>
          <a:solidFill>
            <a:srgbClr val="F5F547"/>
          </a:solidFill>
          <a:ln/>
        </p:spPr>
      </p:sp>
      <p:sp>
        <p:nvSpPr>
          <p:cNvPr id="21" name="Text 19"/>
          <p:cNvSpPr/>
          <p:nvPr/>
        </p:nvSpPr>
        <p:spPr>
          <a:xfrm>
            <a:off x="7837646" y="66945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Early Stopping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837646" y="7178278"/>
            <a:ext cx="6105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Arrêt automatique quand validation ne s'améliore plus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93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196941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 projet a permis de concevoir et entraîner un MLP pour la reconnaissance de chiffres manuscrits sur MNIST, atteignant une accuracy &gt;97%.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1941790"/>
            <a:ext cx="30480" cy="1236107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433048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</p:sp>
      <p:sp>
        <p:nvSpPr>
          <p:cNvPr id="6" name="Text 4"/>
          <p:cNvSpPr/>
          <p:nvPr/>
        </p:nvSpPr>
        <p:spPr>
          <a:xfrm>
            <a:off x="1020604" y="36598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Réalisations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415028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Pipeline complet de Deep Learning : exploration, prétraitement, entraînement, évaluation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433048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</p:sp>
      <p:sp>
        <p:nvSpPr>
          <p:cNvPr id="9" name="Text 7"/>
          <p:cNvSpPr/>
          <p:nvPr/>
        </p:nvSpPr>
        <p:spPr>
          <a:xfrm>
            <a:off x="5443776" y="36598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Limites identifiées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3776" y="415028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Perte d'information spatiale, difficulté avec chiffres similaires, performance inférieure aux CNN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433048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9866948" y="36598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Perspectives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66948" y="4150281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Utilisation de CNN ou modèles hybrides pour améliorer les performances sur images complexes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6140529"/>
            <a:ext cx="13042821" cy="16907"/>
          </a:xfrm>
          <a:prstGeom prst="rect">
            <a:avLst/>
          </a:prstGeom>
          <a:solidFill>
            <a:srgbClr val="BFBFBF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64692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Références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Documentation PyTorch, Dataset MNIST, Goodfellow et al., Deep Learning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70873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Colab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https://colab.research.google.com/drive/1jFVz4UOUVEPQEFzz1lqATlZlfwI_8CCL?usp=sharing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2026-05-03T22:09:59Z</dcterms:created>
  <dcterms:modified xsi:type="dcterms:W3CDTF">2026-05-03T22:09:59Z</dcterms:modified>
</cp:coreProperties>
</file>